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4FA1DD-0CD4-4013-9CE1-6208CB2592CE}">
  <a:tblStyle styleId="{554FA1DD-0CD4-4013-9CE1-6208CB2592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projeto em </a:t>
            </a:r>
            <a:r>
              <a:rPr lang="en-US"/>
              <a:t>bioinformática</a:t>
            </a:r>
            <a:r>
              <a:rPr lang="en-US"/>
              <a:t> tem como </a:t>
            </a:r>
            <a:r>
              <a:rPr lang="en-US"/>
              <a:t>título “Integration of Phenolic Secondary Metabolism into a Grapevine Genome-Scale Metabolic Model Using DeePlants”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fc6f0ec0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fc6f0ec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Para contextualizar o projeto vou fazer uma breve introdução, começando pelos compostos fenólicos, que pertencem aos compostos naturais, compostos que são produzidos pelo metabolismo secundário da planta e são essenciais no ciclo de vida das planta, neste caso, da videira. Os compostos fenólicos não são essenciais no seu crescimento básico porém são vitais na sua defesa e para nós, são cruciais para a cor, sabor, textura e qualidade do vinho.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Para se estudar o metabolismo, neste caso da videira, os GSMM representam um grande avanço mas apresentam limitações, uma vez que as vias do metabolismo secundário estão frequentemente sub-representadas.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reduzir estas limitações, o objetivo deste trabalho passa por, através da combinação de algoritmos (MCTS e A*), realizar a retrobiossintese dos metabolitos, identificando os precursores e prevendo as vias metabólicas associados aos compostos fenólicos.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Outro passo importante do trabalho passa por fazer a anotação do proteoma da videira, </a:t>
            </a:r>
            <a:r>
              <a:rPr lang="en-US"/>
              <a:t>através</a:t>
            </a:r>
            <a:r>
              <a:rPr lang="en-US"/>
              <a:t> da previsão dos EC numbers com recurso a Deep Neural Networks e Large Language Models (DNN-LLM) e comparar os resultados com os dados já estabelecidos no GSMM.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fim, pretende-se integrar toda esta nova informação no GSMM da videira.</a:t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Através da ferramenta DeePlants é </a:t>
            </a:r>
            <a:r>
              <a:rPr lang="en-US">
                <a:solidFill>
                  <a:schemeClr val="dk1"/>
                </a:solidFill>
              </a:rPr>
              <a:t>possível</a:t>
            </a:r>
            <a:r>
              <a:rPr lang="en-US">
                <a:solidFill>
                  <a:schemeClr val="dk1"/>
                </a:solidFill>
              </a:rPr>
              <a:t> realizar a retrobiossintese, com recurso ao algoritmo MEEA*, combinando de algoritmos de decisão (MCTS) e de pathfinding (A*). Para que a retrobiossintese seja </a:t>
            </a:r>
            <a:r>
              <a:rPr lang="en-US">
                <a:solidFill>
                  <a:schemeClr val="dk1"/>
                </a:solidFill>
              </a:rPr>
              <a:t>possível</a:t>
            </a:r>
            <a:r>
              <a:rPr lang="en-US">
                <a:solidFill>
                  <a:schemeClr val="dk1"/>
                </a:solidFill>
              </a:rPr>
              <a:t>, é </a:t>
            </a:r>
            <a:r>
              <a:rPr lang="en-US">
                <a:solidFill>
                  <a:schemeClr val="dk1"/>
                </a:solidFill>
              </a:rPr>
              <a:t>também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necessário</a:t>
            </a:r>
            <a:r>
              <a:rPr lang="en-US">
                <a:solidFill>
                  <a:schemeClr val="dk1"/>
                </a:solidFill>
              </a:rPr>
              <a:t> prever o precursor da </a:t>
            </a:r>
            <a:r>
              <a:rPr lang="en-US">
                <a:solidFill>
                  <a:schemeClr val="dk1"/>
                </a:solidFill>
              </a:rPr>
              <a:t>molécula, e aqui entra o DeepMol, uma ferramenta que identifica automaticamente os melhores modelos preditivos de precursores.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anotar o proteoma e identificar EC numbers das enzimas, a abordagem passa por utilizar modelos Deep Learning</a:t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3cf1cb4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forma abrangente o trabalho até ao momento envolve 3 fases principais, sendo elas a seleção dos compostos </a:t>
            </a:r>
            <a:r>
              <a:rPr lang="en-US"/>
              <a:t>fenólicos</a:t>
            </a:r>
            <a:r>
              <a:rPr lang="en-US"/>
              <a:t> ausentes do GSMM da videira.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Depois estas duas </a:t>
            </a:r>
            <a:r>
              <a:rPr lang="en-US"/>
              <a:t>próximas</a:t>
            </a:r>
            <a:r>
              <a:rPr lang="en-US"/>
              <a:t> etapas a ordem não é relevante. Foi entao feita a classificação das vias desses compostos.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Foi </a:t>
            </a:r>
            <a:r>
              <a:rPr lang="en-US"/>
              <a:t>também</a:t>
            </a:r>
            <a:r>
              <a:rPr lang="en-US"/>
              <a:t> feita a anotação de todo o proteoma da videira classificando as enzimas e prevendo os EC numbers.</a:t>
            </a:r>
            <a:endParaRPr/>
          </a:p>
        </p:txBody>
      </p:sp>
      <p:sp>
        <p:nvSpPr>
          <p:cNvPr id="163" name="Google Shape;163;g3e3cf1cb4e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3cf1cb4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</a:t>
            </a:r>
            <a:r>
              <a:rPr lang="en-US">
                <a:solidFill>
                  <a:schemeClr val="dk1"/>
                </a:solidFill>
              </a:rPr>
              <a:t>omeçou-se por fazer manualmente a seleção dos compostos fenólicos presentes num dataset e ausentes no GSMM, criando um ficheiro com o SMILES dos respetivos compostos.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Foi feita a classificação das vias metabólicas a partir do SMILES, prevendo as vías utilizando as bases de dados KEGG e PlantCyc. Com recurso aos algoritmos MCTS e A* e usando o Retroformer foi previsto o precursor de cada metabolito e feita a retrobiossintese e por fim feita a anotação de EC number das reações previstas. Depois foram geradas imagens das vias previstas para interpretação.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Foi também feita a anotação do proteoma da videira, recorrendo a protein language models, no caso, à ferramenta ProtBERT, distinguindo-se as enzimas de não-enzimas e anotando-se o tipo de enzima pelo EC number.</a:t>
            </a:r>
            <a:endParaRPr/>
          </a:p>
        </p:txBody>
      </p:sp>
      <p:sp>
        <p:nvSpPr>
          <p:cNvPr id="179" name="Google Shape;179;g3e3cf1cb4e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3cf1cb4e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3cf1cb4e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reação é catalisada por uma isomerase, uma vez que a molécula não ganha nem perde átomos, ocorrendo apenas uma alteração na sua estereoquímica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3cf1cb4e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3cf1cb4e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477105bd0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477105bd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3cf1cb4e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3cf1cb4e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trabalho futuro que pretendemos concluir passa por fazer o match direto dos EC numbers das enzimas com as reações, ou seja, identificar os candidatos na catalisação das reações. -&gt; isto é o mais importante neste momento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Dependendo do tempo disponivel será também feita a simulação do modelo (GSMM) da videira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11" Type="http://schemas.openxmlformats.org/officeDocument/2006/relationships/image" Target="../media/image19.png"/><Relationship Id="rId10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11" Type="http://schemas.openxmlformats.org/officeDocument/2006/relationships/image" Target="../media/image29.png"/><Relationship Id="rId10" Type="http://schemas.openxmlformats.org/officeDocument/2006/relationships/image" Target="../media/image25.png"/><Relationship Id="rId9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95362" y="348898"/>
            <a:ext cx="110013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Integration of Phenolic Secondary Metabolism into a Grapevine Genome-Scale Metabolic Model Using DeePlants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662362" y="4699545"/>
            <a:ext cx="48672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Luís Babo</a:t>
            </a:r>
            <a:endParaRPr sz="195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pg58817</a:t>
            </a:r>
            <a:endParaRPr sz="195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UC: Projeto em bioinformática</a:t>
            </a:r>
            <a:endParaRPr sz="195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50" y="2561550"/>
            <a:ext cx="12192000" cy="17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latin typeface="Poppins"/>
                <a:ea typeface="Poppins"/>
                <a:cs typeface="Poppins"/>
                <a:sym typeface="Poppins"/>
              </a:rPr>
              <a:t>Contexto e motivação</a:t>
            </a:r>
            <a:endParaRPr sz="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925" y="562250"/>
            <a:ext cx="3780001" cy="30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3035550" y="2013300"/>
            <a:ext cx="503700" cy="546900"/>
          </a:xfrm>
          <a:prstGeom prst="ellipse">
            <a:avLst/>
          </a:prstGeom>
          <a:noFill/>
          <a:ln cap="flat" cmpd="sng" w="38100">
            <a:solidFill>
              <a:srgbClr val="8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1770600" y="1381350"/>
            <a:ext cx="503700" cy="546900"/>
          </a:xfrm>
          <a:prstGeom prst="ellipse">
            <a:avLst/>
          </a:prstGeom>
          <a:noFill/>
          <a:ln cap="flat" cmpd="sng" w="38100">
            <a:solidFill>
              <a:srgbClr val="8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5"/>
          <p:cNvCxnSpPr>
            <a:endCxn id="99" idx="1"/>
          </p:cNvCxnSpPr>
          <p:nvPr/>
        </p:nvCxnSpPr>
        <p:spPr>
          <a:xfrm flipH="1" rot="10800000">
            <a:off x="2274225" y="347653"/>
            <a:ext cx="4096200" cy="1307100"/>
          </a:xfrm>
          <a:prstGeom prst="straightConnector1">
            <a:avLst/>
          </a:prstGeom>
          <a:noFill/>
          <a:ln cap="flat" cmpd="sng" w="38100">
            <a:solidFill>
              <a:srgbClr val="8000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5"/>
          <p:cNvCxnSpPr>
            <a:stCxn id="96" idx="6"/>
            <a:endCxn id="99" idx="1"/>
          </p:cNvCxnSpPr>
          <p:nvPr/>
        </p:nvCxnSpPr>
        <p:spPr>
          <a:xfrm flipH="1" rot="10800000">
            <a:off x="3539250" y="347550"/>
            <a:ext cx="2831100" cy="1939200"/>
          </a:xfrm>
          <a:prstGeom prst="straightConnector1">
            <a:avLst/>
          </a:prstGeom>
          <a:noFill/>
          <a:ln cap="flat" cmpd="sng" w="38100">
            <a:solidFill>
              <a:srgbClr val="80002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5"/>
          <p:cNvSpPr txBox="1"/>
          <p:nvPr/>
        </p:nvSpPr>
        <p:spPr>
          <a:xfrm>
            <a:off x="6370425" y="163003"/>
            <a:ext cx="436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4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Compostos fenólicos (PCs)</a:t>
            </a:r>
            <a:endParaRPr sz="1700"/>
          </a:p>
        </p:txBody>
      </p:sp>
      <p:sp>
        <p:nvSpPr>
          <p:cNvPr id="101" name="Google Shape;101;p15"/>
          <p:cNvSpPr txBox="1"/>
          <p:nvPr/>
        </p:nvSpPr>
        <p:spPr>
          <a:xfrm>
            <a:off x="6535200" y="897975"/>
            <a:ext cx="5656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Defesa:</a:t>
            </a:r>
            <a:r>
              <a:rPr b="0" i="0" lang="en-US" sz="155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Proteção contra radiação UV, herbívoros e stress abiótico.</a:t>
            </a:r>
            <a:endParaRPr sz="1614">
              <a:solidFill>
                <a:schemeClr val="dk1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535190" y="1774978"/>
            <a:ext cx="5656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Enologia:</a:t>
            </a:r>
            <a:r>
              <a:rPr b="0" i="0" lang="en-US" sz="155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Definição da cor, sabor</a:t>
            </a:r>
            <a:r>
              <a:rPr lang="en-US" sz="155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textura</a:t>
            </a:r>
            <a:r>
              <a:rPr lang="en-US" sz="155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qualidade</a:t>
            </a:r>
            <a:r>
              <a:rPr b="0" i="0" lang="en-US" sz="155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14">
              <a:solidFill>
                <a:schemeClr val="dk1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6535190" y="2370132"/>
            <a:ext cx="5656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Interação:</a:t>
            </a:r>
            <a:r>
              <a:rPr b="0" i="0" lang="en-US" sz="1557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Mediação da adaptação ao meio ambiente.</a:t>
            </a:r>
            <a:endParaRPr sz="1614">
              <a:solidFill>
                <a:schemeClr val="dk1"/>
              </a:solidFill>
            </a:endParaRPr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0750" y="947402"/>
            <a:ext cx="219680" cy="230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0750" y="1824406"/>
            <a:ext cx="142792" cy="230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0750" y="2419560"/>
            <a:ext cx="219680" cy="230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42925" y="3982650"/>
            <a:ext cx="553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Limitação dos Modelos Metabólicos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42925" y="4372125"/>
            <a:ext cx="62052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Os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Genome-Scale Metabolic Model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 (GSMMs) representam um grande avanço, mas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apresentam uma limitação de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 conhecimento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, uma vez que as vias do metabolismo secundário estão, frequentemente, sub-representadas nas bases de dados biológicas atuais. 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7435021" y="3495625"/>
            <a:ext cx="503400" cy="503400"/>
          </a:xfrm>
          <a:prstGeom prst="mathPlus">
            <a:avLst>
              <a:gd fmla="val 10419" name="adj1"/>
            </a:avLst>
          </a:prstGeom>
          <a:solidFill>
            <a:schemeClr val="dk2"/>
          </a:solidFill>
          <a:ln cap="flat" cmpd="sng" w="7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75" lIns="73875" spcFirstLastPara="1" rIns="73875" wrap="square" tIns="73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434875" y="4126683"/>
            <a:ext cx="503700" cy="570600"/>
          </a:xfrm>
          <a:prstGeom prst="mathMinus">
            <a:avLst>
              <a:gd fmla="val 11243" name="adj1"/>
            </a:avLst>
          </a:prstGeom>
          <a:solidFill>
            <a:srgbClr val="980000"/>
          </a:solidFill>
          <a:ln cap="flat" cmpd="sng" w="77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75" lIns="73875" spcFirstLastPara="1" rIns="73875" wrap="square" tIns="73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8048475" y="3585775"/>
            <a:ext cx="409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Metabolitos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048475" y="4250425"/>
            <a:ext cx="409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Vias </a:t>
            </a:r>
            <a:r>
              <a:rPr lang="en-US" sz="21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metabólicas</a:t>
            </a:r>
            <a:r>
              <a:rPr lang="en-US" sz="21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conhecidas</a:t>
            </a:r>
            <a:endParaRPr sz="2100"/>
          </a:p>
        </p:txBody>
      </p:sp>
      <p:sp>
        <p:nvSpPr>
          <p:cNvPr id="113" name="Google Shape;113;p15"/>
          <p:cNvSpPr txBox="1"/>
          <p:nvPr/>
        </p:nvSpPr>
        <p:spPr>
          <a:xfrm>
            <a:off x="542925" y="186100"/>
            <a:ext cx="237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Vitis vinifera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00" y="862125"/>
            <a:ext cx="5196675" cy="372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700" y="862125"/>
            <a:ext cx="5196675" cy="3729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00" y="4774450"/>
            <a:ext cx="11544400" cy="175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368073" y="972524"/>
            <a:ext cx="26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80002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3800"/>
          </a:p>
        </p:txBody>
      </p:sp>
      <p:sp>
        <p:nvSpPr>
          <p:cNvPr id="122" name="Google Shape;122;p16"/>
          <p:cNvSpPr txBox="1"/>
          <p:nvPr/>
        </p:nvSpPr>
        <p:spPr>
          <a:xfrm>
            <a:off x="6718714" y="943028"/>
            <a:ext cx="31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80002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3800"/>
          </a:p>
        </p:txBody>
      </p:sp>
      <p:sp>
        <p:nvSpPr>
          <p:cNvPr id="123" name="Google Shape;123;p16"/>
          <p:cNvSpPr txBox="1"/>
          <p:nvPr/>
        </p:nvSpPr>
        <p:spPr>
          <a:xfrm>
            <a:off x="549855" y="5000407"/>
            <a:ext cx="68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80002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3800"/>
          </a:p>
        </p:txBody>
      </p:sp>
      <p:sp>
        <p:nvSpPr>
          <p:cNvPr id="124" name="Google Shape;124;p16"/>
          <p:cNvSpPr txBox="1"/>
          <p:nvPr/>
        </p:nvSpPr>
        <p:spPr>
          <a:xfrm>
            <a:off x="714155" y="1126424"/>
            <a:ext cx="467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Retrobiossíntese de </a:t>
            </a:r>
            <a:r>
              <a:rPr lang="en-US" sz="18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ompostos</a:t>
            </a:r>
            <a:endParaRPr sz="1800"/>
          </a:p>
        </p:txBody>
      </p:sp>
      <p:sp>
        <p:nvSpPr>
          <p:cNvPr id="125" name="Google Shape;125;p16"/>
          <p:cNvSpPr txBox="1"/>
          <p:nvPr/>
        </p:nvSpPr>
        <p:spPr>
          <a:xfrm>
            <a:off x="538350" y="1630750"/>
            <a:ext cx="48492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ealizar a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retrobiossíntese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identificando os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precursores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as vias metabólicas associadas aos compostos fenólicos.</a:t>
            </a:r>
            <a:endParaRPr sz="1800"/>
          </a:p>
        </p:txBody>
      </p:sp>
      <p:sp>
        <p:nvSpPr>
          <p:cNvPr id="126" name="Google Shape;126;p16"/>
          <p:cNvSpPr txBox="1"/>
          <p:nvPr/>
        </p:nvSpPr>
        <p:spPr>
          <a:xfrm>
            <a:off x="7144089" y="1096928"/>
            <a:ext cx="472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Anotação </a:t>
            </a:r>
            <a:r>
              <a:rPr lang="en-US" sz="18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</a:t>
            </a: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enómica</a:t>
            </a:r>
            <a:endParaRPr sz="1800"/>
          </a:p>
        </p:txBody>
      </p:sp>
      <p:sp>
        <p:nvSpPr>
          <p:cNvPr id="127" name="Google Shape;127;p16"/>
          <p:cNvSpPr txBox="1"/>
          <p:nvPr/>
        </p:nvSpPr>
        <p:spPr>
          <a:xfrm>
            <a:off x="6882500" y="1717000"/>
            <a:ext cx="49857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Realizar a anotação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do proteoma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prevendo os EC numbers através da combinação da ferramenta DNN-LLM.</a:t>
            </a:r>
            <a:endParaRPr sz="1800"/>
          </a:p>
        </p:txBody>
      </p:sp>
      <p:sp>
        <p:nvSpPr>
          <p:cNvPr id="128" name="Google Shape;128;p16"/>
          <p:cNvSpPr txBox="1"/>
          <p:nvPr/>
        </p:nvSpPr>
        <p:spPr>
          <a:xfrm>
            <a:off x="977653" y="5154307"/>
            <a:ext cx="999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Integração no GSMM</a:t>
            </a:r>
            <a:endParaRPr sz="1800"/>
          </a:p>
        </p:txBody>
      </p:sp>
      <p:sp>
        <p:nvSpPr>
          <p:cNvPr id="129" name="Google Shape;129;p16"/>
          <p:cNvSpPr txBox="1"/>
          <p:nvPr/>
        </p:nvSpPr>
        <p:spPr>
          <a:xfrm>
            <a:off x="668989" y="5696550"/>
            <a:ext cx="1085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Integrar as previsões destas vias metabólicas no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GSMM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iMS7199.v4 da videira (</a:t>
            </a:r>
            <a:r>
              <a:rPr b="0" i="1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Vitis vinifera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-125" y="209550"/>
            <a:ext cx="1219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do Trabalho</a:t>
            </a:r>
            <a:endParaRPr/>
          </a:p>
        </p:txBody>
      </p:sp>
      <p:pic>
        <p:nvPicPr>
          <p:cNvPr id="131" name="Google Shape;131;p16" title="—Pngtree—polygonal science molecule_4682565.png"/>
          <p:cNvPicPr preferRelativeResize="0"/>
          <p:nvPr/>
        </p:nvPicPr>
        <p:blipFill rotWithShape="1">
          <a:blip r:embed="rId7">
            <a:alphaModFix/>
          </a:blip>
          <a:srcRect b="31889" l="0" r="54618" t="0"/>
          <a:stretch/>
        </p:blipFill>
        <p:spPr>
          <a:xfrm rot="-3990258">
            <a:off x="2341993" y="3002148"/>
            <a:ext cx="522864" cy="78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title="—Pngtree—polygonal science molecule_468256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4675" y="2998325"/>
            <a:ext cx="722150" cy="72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—Pngtree—polygonal science molecule_4682565.png"/>
          <p:cNvPicPr preferRelativeResize="0"/>
          <p:nvPr/>
        </p:nvPicPr>
        <p:blipFill rotWithShape="1">
          <a:blip r:embed="rId7">
            <a:alphaModFix/>
          </a:blip>
          <a:srcRect b="61494" l="0" r="68174" t="0"/>
          <a:stretch/>
        </p:blipFill>
        <p:spPr>
          <a:xfrm>
            <a:off x="1326979" y="3021274"/>
            <a:ext cx="419794" cy="50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 rot="10800000">
            <a:off x="3001100" y="3554300"/>
            <a:ext cx="758700" cy="1659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 rot="10800000">
            <a:off x="1746775" y="3554300"/>
            <a:ext cx="758700" cy="1659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16"/>
          <p:cNvGrpSpPr/>
          <p:nvPr/>
        </p:nvGrpSpPr>
        <p:grpSpPr>
          <a:xfrm>
            <a:off x="8315025" y="2612178"/>
            <a:ext cx="3315430" cy="1864913"/>
            <a:chOff x="8315025" y="2612178"/>
            <a:chExt cx="3315430" cy="1864913"/>
          </a:xfrm>
        </p:grpSpPr>
        <p:grpSp>
          <p:nvGrpSpPr>
            <p:cNvPr id="137" name="Google Shape;137;p16"/>
            <p:cNvGrpSpPr/>
            <p:nvPr/>
          </p:nvGrpSpPr>
          <p:grpSpPr>
            <a:xfrm>
              <a:off x="8315025" y="2612178"/>
              <a:ext cx="3315430" cy="1864913"/>
              <a:chOff x="8315025" y="2612178"/>
              <a:chExt cx="3315430" cy="1864913"/>
            </a:xfrm>
          </p:grpSpPr>
          <p:pic>
            <p:nvPicPr>
              <p:cNvPr id="138" name="Google Shape;138;p16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8315025" y="2612178"/>
                <a:ext cx="3315430" cy="18649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" name="Google Shape;139;p16"/>
              <p:cNvSpPr txBox="1"/>
              <p:nvPr/>
            </p:nvSpPr>
            <p:spPr>
              <a:xfrm>
                <a:off x="9805200" y="2670225"/>
                <a:ext cx="952500" cy="677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16"/>
            <p:cNvSpPr txBox="1"/>
            <p:nvPr/>
          </p:nvSpPr>
          <p:spPr>
            <a:xfrm>
              <a:off x="8391200" y="3879950"/>
              <a:ext cx="1951200" cy="31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1C232"/>
                  </a:solidFill>
                  <a:latin typeface="Calibri"/>
                  <a:ea typeface="Calibri"/>
                  <a:cs typeface="Calibri"/>
                  <a:sym typeface="Calibri"/>
                </a:rPr>
                <a:t>Serial number of the particular enzyme</a:t>
              </a:r>
              <a:endParaRPr sz="10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1058750"/>
            <a:ext cx="3238500" cy="5108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6750" y="1058750"/>
            <a:ext cx="3238500" cy="5108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058750"/>
            <a:ext cx="3238500" cy="5108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14492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254299" y="2630750"/>
            <a:ext cx="244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Retrobiossíntese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152525" y="3182825"/>
            <a:ext cx="26481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Identificação de rotas sintéticas eficientes a partir de moléculas alvo até aos precursores biológicos (algoritmo MEEA*).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19750" y="14492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705826" y="2639900"/>
            <a:ext cx="27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Anotação Genómica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0" y="14492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325326" y="2639900"/>
            <a:ext cx="27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Previsão de Precursores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391525" y="3582875"/>
            <a:ext cx="26481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Utilização d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o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DeepMol (AutoML) para identificar automaticamente os melhores modelos preditivos d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e precursores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09800" y="16588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2637" y="1658825"/>
            <a:ext cx="466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48800" y="165882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224200" y="2623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Abordagem com o DeePlants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772025" y="3582875"/>
            <a:ext cx="26481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Previsão de EC numbers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através de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Deep Learning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 models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/>
        </p:nvSpPr>
        <p:spPr>
          <a:xfrm>
            <a:off x="1809700" y="1424825"/>
            <a:ext cx="8572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Abordagem estruturada em três fases principais para colmatar a ausência de vias </a:t>
            </a:r>
            <a:r>
              <a:rPr lang="en-US" sz="1800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metabólicas</a:t>
            </a:r>
            <a:r>
              <a:rPr lang="en-US" sz="1800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8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no </a:t>
            </a:r>
            <a:r>
              <a:rPr lang="en-US" sz="1800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GSMM </a:t>
            </a:r>
            <a:r>
              <a:rPr b="0" i="0" lang="en-US" sz="18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da videira.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690679" y="4418584"/>
            <a:ext cx="10810800" cy="43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52400" lIns="104825" spcFirstLastPara="1" rIns="104825" wrap="square" tIns="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738981" y="4287547"/>
            <a:ext cx="305700" cy="305700"/>
          </a:xfrm>
          <a:prstGeom prst="roundRect">
            <a:avLst>
              <a:gd fmla="val 50000" name="adj"/>
            </a:avLst>
          </a:prstGeom>
          <a:solidFill>
            <a:srgbClr val="800020"/>
          </a:solidFill>
          <a:ln cap="flat" cmpd="sng" w="65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104825" spcFirstLastPara="1" rIns="104825" wrap="square" tIns="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943109" y="4287547"/>
            <a:ext cx="305700" cy="305700"/>
          </a:xfrm>
          <a:prstGeom prst="roundRect">
            <a:avLst>
              <a:gd fmla="val 50000" name="adj"/>
            </a:avLst>
          </a:prstGeom>
          <a:solidFill>
            <a:srgbClr val="800020"/>
          </a:solidFill>
          <a:ln cap="flat" cmpd="sng" w="65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104825" spcFirstLastPara="1" rIns="104825" wrap="square" tIns="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0147237" y="4287547"/>
            <a:ext cx="305700" cy="305700"/>
          </a:xfrm>
          <a:prstGeom prst="roundRect">
            <a:avLst>
              <a:gd fmla="val 50000" name="adj"/>
            </a:avLst>
          </a:prstGeom>
          <a:solidFill>
            <a:srgbClr val="800020"/>
          </a:solidFill>
          <a:ln cap="flat" cmpd="sng" w="65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104825" spcFirstLastPara="1" rIns="104825" wrap="square" tIns="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0" y="2616826"/>
            <a:ext cx="3783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4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Seleção de Compostos</a:t>
            </a:r>
            <a:endParaRPr sz="1605"/>
          </a:p>
        </p:txBody>
      </p:sp>
      <p:sp>
        <p:nvSpPr>
          <p:cNvPr id="171" name="Google Shape;171;p18"/>
          <p:cNvSpPr txBox="1"/>
          <p:nvPr/>
        </p:nvSpPr>
        <p:spPr>
          <a:xfrm>
            <a:off x="90089" y="3086375"/>
            <a:ext cx="3603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Identificação de fenólicos ausentes cruzando dados metabolómicos com o modelo iMS7199.</a:t>
            </a:r>
            <a:endParaRPr sz="1605"/>
          </a:p>
        </p:txBody>
      </p:sp>
      <p:sp>
        <p:nvSpPr>
          <p:cNvPr id="172" name="Google Shape;172;p18"/>
          <p:cNvSpPr txBox="1"/>
          <p:nvPr/>
        </p:nvSpPr>
        <p:spPr>
          <a:xfrm>
            <a:off x="4204128" y="4877214"/>
            <a:ext cx="3783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4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</a:t>
            </a:r>
            <a:r>
              <a:rPr b="0" i="0" lang="en-US" sz="2064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Classificação de Vias</a:t>
            </a:r>
            <a:endParaRPr sz="1605"/>
          </a:p>
        </p:txBody>
      </p:sp>
      <p:sp>
        <p:nvSpPr>
          <p:cNvPr id="173" name="Google Shape;173;p18"/>
          <p:cNvSpPr txBox="1"/>
          <p:nvPr/>
        </p:nvSpPr>
        <p:spPr>
          <a:xfrm>
            <a:off x="4294217" y="5346773"/>
            <a:ext cx="3603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Retrobiossíntese, classificação PlantCyc/KEGG e mapeamento preditivo </a:t>
            </a:r>
            <a:r>
              <a:rPr lang="en-US" sz="172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recorrendo ao MEEA*</a:t>
            </a:r>
            <a:endParaRPr sz="1605"/>
          </a:p>
        </p:txBody>
      </p:sp>
      <p:sp>
        <p:nvSpPr>
          <p:cNvPr id="174" name="Google Shape;174;p18"/>
          <p:cNvSpPr txBox="1"/>
          <p:nvPr/>
        </p:nvSpPr>
        <p:spPr>
          <a:xfrm>
            <a:off x="8408256" y="2616826"/>
            <a:ext cx="3783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4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</a:t>
            </a:r>
            <a:r>
              <a:rPr b="0" i="0" lang="en-US" sz="2064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Anotação do Proteoma</a:t>
            </a:r>
            <a:endParaRPr sz="1605"/>
          </a:p>
        </p:txBody>
      </p:sp>
      <p:sp>
        <p:nvSpPr>
          <p:cNvPr id="175" name="Google Shape;175;p18"/>
          <p:cNvSpPr txBox="1"/>
          <p:nvPr/>
        </p:nvSpPr>
        <p:spPr>
          <a:xfrm>
            <a:off x="8498345" y="3086375"/>
            <a:ext cx="3603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Classificação de enzimas e previsão EC numbers usando </a:t>
            </a:r>
            <a:r>
              <a:rPr lang="en-US" sz="172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72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rotBERT (modelo</a:t>
            </a:r>
            <a:r>
              <a:rPr lang="en-US" sz="172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72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lang="en-US" sz="172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DL para proteínas)</a:t>
            </a:r>
            <a:r>
              <a:rPr b="0" i="0" lang="en-US" sz="172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5"/>
          </a:p>
        </p:txBody>
      </p:sp>
      <p:sp>
        <p:nvSpPr>
          <p:cNvPr id="176" name="Google Shape;176;p18"/>
          <p:cNvSpPr txBox="1"/>
          <p:nvPr/>
        </p:nvSpPr>
        <p:spPr>
          <a:xfrm>
            <a:off x="-125" y="209550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Metodologia</a:t>
            </a:r>
            <a:endParaRPr b="1"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Poppins"/>
                <a:ea typeface="Poppins"/>
                <a:cs typeface="Poppins"/>
                <a:sym typeface="Poppins"/>
              </a:rPr>
              <a:t>Fluxo de trabalho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325" y="1225350"/>
            <a:ext cx="3301900" cy="508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4975" y="1225350"/>
            <a:ext cx="3302049" cy="508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75" y="1225350"/>
            <a:ext cx="3301900" cy="50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084816" y="1517090"/>
            <a:ext cx="284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Seleção (Missing GSSM)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1152600" y="2205922"/>
            <a:ext cx="2711400" cy="16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4672463" y="1517090"/>
            <a:ext cx="284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</a:t>
            </a: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Pathway Classification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4740250" y="2205922"/>
            <a:ext cx="2711400" cy="16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8260266" y="1517090"/>
            <a:ext cx="28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</a:t>
            </a:r>
            <a:r>
              <a:rPr b="0" i="0" lang="en-US" sz="1800" u="none" cap="none" strike="noStrike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Proteoma Annotation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8328050" y="2205922"/>
            <a:ext cx="2711400" cy="16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1189500" y="2344224"/>
            <a:ext cx="247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Comparação manual d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os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 dados 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metabólicos do dataset 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 com o modelo da videira.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189525" y="3947645"/>
            <a:ext cx="2473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Extração estrutural via PubChem.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189650" y="5156262"/>
            <a:ext cx="247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Criação de base de dados em CSV contendo Nome do Metabolito, ID e SMILES.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777150" y="2344225"/>
            <a:ext cx="28470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Execução do </a:t>
            </a:r>
            <a:r>
              <a:rPr b="0" i="1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snakefile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 do 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DeePlants 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para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500">
              <a:solidFill>
                <a:srgbClr val="11182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lassificação de vias (KEGG/PlantCyc)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>
              <a:solidFill>
                <a:srgbClr val="11182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1182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Lato"/>
              <a:buChar char="●"/>
            </a:pPr>
            <a:r>
              <a:rPr i="1"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De Novo Pathway Prediction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: Busca retrobiossintética via MCTS com A* usando o Retroformer.</a:t>
            </a:r>
            <a:endParaRPr sz="1500">
              <a:solidFill>
                <a:srgbClr val="11182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4777100" y="5502466"/>
            <a:ext cx="2473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Anotação EC e geração de imagens d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as vias previstas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364950" y="2344227"/>
            <a:ext cx="247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Download do fasta </a:t>
            </a:r>
            <a:r>
              <a:rPr lang="en-US" sz="15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do proteoma da videira (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PN40024.v4).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364950" y="3513506"/>
            <a:ext cx="2473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Anotação de enzimas por número EC utilizando o modelo de linguagem </a:t>
            </a:r>
            <a:r>
              <a:rPr b="1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ProtBERT</a:t>
            </a:r>
            <a:r>
              <a:rPr b="0" i="0" lang="en-US" sz="15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364550" y="4980651"/>
            <a:ext cx="247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Lato"/>
                <a:ea typeface="Lato"/>
                <a:cs typeface="Lato"/>
                <a:sym typeface="Lato"/>
              </a:rPr>
              <a:t>Geradas análiss estatisticas comparando previstos com dados do modelo genómico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951375" y="2295604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51400" y="3899022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51525" y="5107638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4539025" y="2295604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538975" y="5453843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126825" y="2295604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126825" y="3464883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126425" y="4932021"/>
            <a:ext cx="162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-125" y="209550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Metodologia</a:t>
            </a:r>
            <a:endParaRPr b="1"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Poppins"/>
                <a:ea typeface="Poppins"/>
                <a:cs typeface="Poppins"/>
                <a:sym typeface="Poppins"/>
              </a:rPr>
              <a:t>Execução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/>
        </p:nvSpPr>
        <p:spPr>
          <a:xfrm>
            <a:off x="0" y="86450"/>
            <a:ext cx="1219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Resultados e discussão </a:t>
            </a:r>
            <a:r>
              <a:rPr b="1" lang="en-US" sz="2700"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500">
                <a:latin typeface="Poppins"/>
                <a:ea typeface="Poppins"/>
                <a:cs typeface="Poppins"/>
                <a:sym typeface="Poppins"/>
              </a:rPr>
              <a:t>Classificação das vias </a:t>
            </a:r>
            <a:r>
              <a:rPr b="1" lang="en-US" sz="2500">
                <a:latin typeface="Poppins"/>
                <a:ea typeface="Poppins"/>
                <a:cs typeface="Poppins"/>
                <a:sym typeface="Poppins"/>
              </a:rPr>
              <a:t>metabólicas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664100" y="4179125"/>
            <a:ext cx="886800" cy="892800"/>
          </a:xfrm>
          <a:prstGeom prst="mathMultiply">
            <a:avLst>
              <a:gd fmla="val 8333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-47275" y="4425350"/>
            <a:ext cx="12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 2.1.1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-87925" y="2878550"/>
            <a:ext cx="13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EC - - - -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-47275" y="1621288"/>
            <a:ext cx="12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 5.5.1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-21100" y="5862075"/>
            <a:ext cx="13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 - - -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330" y="1091775"/>
            <a:ext cx="4268886" cy="13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9325" y="2487371"/>
            <a:ext cx="4268886" cy="1412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9337" y="3900039"/>
            <a:ext cx="4268887" cy="140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9312" y="5308275"/>
            <a:ext cx="4268901" cy="141784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226160" y="4697400"/>
            <a:ext cx="749700" cy="749700"/>
          </a:xfrm>
          <a:prstGeom prst="mathMultiply">
            <a:avLst>
              <a:gd fmla="val 10417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249300" y="594338"/>
            <a:ext cx="12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Pallidol</a:t>
            </a:r>
            <a:endParaRPr b="1" sz="1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64250" y="1135325"/>
            <a:ext cx="4171726" cy="13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7464250" y="594346"/>
            <a:ext cx="4171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Salicylaldehyde</a:t>
            </a:r>
            <a:endParaRPr b="1" sz="1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64250" y="2508863"/>
            <a:ext cx="4171801" cy="138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64288" y="3889425"/>
            <a:ext cx="4171725" cy="136713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6031125" y="1556063"/>
            <a:ext cx="12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 4.1.1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031125" y="2922088"/>
            <a:ext cx="12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 4.3.1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031125" y="4288113"/>
            <a:ext cx="12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 5.3.2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839625" y="815825"/>
            <a:ext cx="17700" cy="591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8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6100" y="1869046"/>
            <a:ext cx="749825" cy="749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78725" y="1737571"/>
            <a:ext cx="749825" cy="74980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6304585" y="4559525"/>
            <a:ext cx="749700" cy="749700"/>
          </a:xfrm>
          <a:prstGeom prst="mathMultiply">
            <a:avLst>
              <a:gd fmla="val 10417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304585" y="3254100"/>
            <a:ext cx="749700" cy="749700"/>
          </a:xfrm>
          <a:prstGeom prst="mathMultiply">
            <a:avLst>
              <a:gd fmla="val 10417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/>
        </p:nvSpPr>
        <p:spPr>
          <a:xfrm>
            <a:off x="0" y="74750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Resultados e discussão</a:t>
            </a:r>
            <a:endParaRPr b="1"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Poppins"/>
                <a:ea typeface="Poppins"/>
                <a:cs typeface="Poppins"/>
                <a:sym typeface="Poppins"/>
              </a:rPr>
              <a:t>Anotação das enzimas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28975" y="967550"/>
            <a:ext cx="119061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777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(threshold &gt;= 0.5)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➔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Total de enzimas no Modelo iMS7199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:--------------------------------------------------------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6289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➔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Total de enzimas com EC na previsão (ProtBERT):------------------------------------------10784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➔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IDs de enzimas partilhadas por ambos (Modelo iMS7199 e Previsão ProtBERT):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-----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4813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➔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Enzimas novas (Apenas presentes na previsão ProtBERT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):--------------------------------</a:t>
            </a: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5971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➔"/>
            </a:pPr>
            <a:r>
              <a:rPr lang="en-US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Enzimas não previstas (Presentes unicamente no Modelo iMS7199):-------------------1476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41" name="Google Shape;241;p21"/>
          <p:cNvGraphicFramePr/>
          <p:nvPr/>
        </p:nvGraphicFramePr>
        <p:xfrm>
          <a:off x="528975" y="368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{554FA1DD-0CD4-4013-9CE1-6208CB2592CE}</a:tableStyleId>
              </a:tblPr>
              <a:tblGrid>
                <a:gridCol w="2682925"/>
                <a:gridCol w="2682925"/>
                <a:gridCol w="2682925"/>
                <a:gridCol w="2682925"/>
              </a:tblGrid>
              <a:tr h="68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 EC</a:t>
                      </a:r>
                      <a:endParaRPr b="1"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Match de IDs (Modelo e previsão ProtBERT)</a:t>
                      </a:r>
                      <a:endParaRPr b="1"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Match de EC numbers</a:t>
                      </a:r>
                      <a:endParaRPr b="1"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%</a:t>
                      </a:r>
                      <a:endParaRPr b="1"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 1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4813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4629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96.18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 2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4455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92.56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 3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4225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87.78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 4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2639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54.83</a:t>
                      </a: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5B0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/>
        </p:nvSpPr>
        <p:spPr>
          <a:xfrm>
            <a:off x="-125" y="209550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Resultados e discussão</a:t>
            </a:r>
            <a:endParaRPr b="1"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Poppins"/>
                <a:ea typeface="Poppins"/>
                <a:cs typeface="Poppins"/>
                <a:sym typeface="Poppins"/>
              </a:rPr>
              <a:t>Anotação das enzimas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7" name="Google Shape;2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83907"/>
            <a:ext cx="12192000" cy="54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/>
        </p:nvSpPr>
        <p:spPr>
          <a:xfrm>
            <a:off x="-125" y="209550"/>
            <a:ext cx="1219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Poppins"/>
                <a:ea typeface="Poppins"/>
                <a:cs typeface="Poppins"/>
                <a:sym typeface="Poppins"/>
              </a:rPr>
              <a:t>Future steps</a:t>
            </a:r>
            <a:endParaRPr sz="3300"/>
          </a:p>
        </p:txBody>
      </p:sp>
      <p:pic>
        <p:nvPicPr>
          <p:cNvPr descr="image.png"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325" y="1225350"/>
            <a:ext cx="4689500" cy="50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1152600" y="2376104"/>
            <a:ext cx="16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152625" y="3979522"/>
            <a:ext cx="16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84250" y="2029900"/>
            <a:ext cx="58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endParaRPr/>
          </a:p>
        </p:txBody>
      </p:sp>
      <p:grpSp>
        <p:nvGrpSpPr>
          <p:cNvPr id="257" name="Google Shape;257;p23"/>
          <p:cNvGrpSpPr/>
          <p:nvPr/>
        </p:nvGrpSpPr>
        <p:grpSpPr>
          <a:xfrm>
            <a:off x="1152625" y="3833272"/>
            <a:ext cx="3872900" cy="507904"/>
            <a:chOff x="2514525" y="3687010"/>
            <a:chExt cx="3872900" cy="507904"/>
          </a:xfrm>
        </p:grpSpPr>
        <p:sp>
          <p:nvSpPr>
            <p:cNvPr id="258" name="Google Shape;258;p23"/>
            <p:cNvSpPr txBox="1"/>
            <p:nvPr/>
          </p:nvSpPr>
          <p:spPr>
            <a:xfrm>
              <a:off x="2514525" y="3837375"/>
              <a:ext cx="179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80002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EC </a:t>
              </a:r>
              <a:r>
                <a:rPr lang="en-US" sz="1800">
                  <a:solidFill>
                    <a:srgbClr val="80002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numbers</a:t>
              </a:r>
              <a:r>
                <a:rPr lang="en-US" sz="1800">
                  <a:solidFill>
                    <a:srgbClr val="80002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endParaRPr/>
            </a:p>
          </p:txBody>
        </p:sp>
        <p:pic>
          <p:nvPicPr>
            <p:cNvPr id="259" name="Google Shape;259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9620" y="3687010"/>
              <a:ext cx="507906" cy="507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08525" y="3687013"/>
              <a:ext cx="507901" cy="507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3"/>
            <p:cNvSpPr txBox="1"/>
            <p:nvPr/>
          </p:nvSpPr>
          <p:spPr>
            <a:xfrm>
              <a:off x="5117525" y="3837375"/>
              <a:ext cx="1269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800020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Reações</a:t>
              </a:r>
              <a:endParaRPr/>
            </a:p>
          </p:txBody>
        </p:sp>
      </p:grpSp>
      <p:sp>
        <p:nvSpPr>
          <p:cNvPr id="262" name="Google Shape;262;p23"/>
          <p:cNvSpPr txBox="1"/>
          <p:nvPr/>
        </p:nvSpPr>
        <p:spPr>
          <a:xfrm>
            <a:off x="1265625" y="2060500"/>
            <a:ext cx="4232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Fazer match entre os EC numbers e as reações</a:t>
            </a:r>
            <a:endParaRPr sz="2200"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1175" y="1225337"/>
            <a:ext cx="4689500" cy="50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6682975" y="2029888"/>
            <a:ext cx="58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00020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7028575" y="2060488"/>
            <a:ext cx="4232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Simular o modelo após integração dos novos dados</a:t>
            </a:r>
            <a:endParaRPr sz="2200"/>
          </a:p>
        </p:txBody>
      </p:sp>
      <p:sp>
        <p:nvSpPr>
          <p:cNvPr id="266" name="Google Shape;266;p23"/>
          <p:cNvSpPr txBox="1"/>
          <p:nvPr/>
        </p:nvSpPr>
        <p:spPr>
          <a:xfrm>
            <a:off x="7492413" y="3933315"/>
            <a:ext cx="28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0002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pFBA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